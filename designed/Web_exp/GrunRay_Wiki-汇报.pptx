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49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330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D8E10-3404-DEA0-956F-33A1127D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0BDBE-8D2F-E5B6-4B77-3F23A5A88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8D396-1157-8FFF-9204-255B76ADE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A12A5-901B-755F-7D8A-53730ECAB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72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6B9EA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560320" cy="2560320"/>
          </a:xfrm>
          <a:prstGeom prst="ellipse">
            <a:avLst/>
          </a:prstGeom>
          <a:solidFill>
            <a:srgbClr val="A0CCA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2F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GrunRay Wiki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前端开发课程 · 项目需求汇报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个人博客与作品集站点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3840480" cy="777240"/>
          </a:xfrm>
          <a:prstGeom prst="rect">
            <a:avLst/>
          </a:prstGeom>
          <a:solidFill>
            <a:srgbClr val="2F4238">
              <a:alpha val="70000"/>
            </a:srgbClr>
          </a:solidFill>
          <a:ln w="6350">
            <a:solidFill>
              <a:srgbClr val="A0CC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965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r>
              <a:rPr lang="en-US" sz="1400" b="1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400" b="1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</a:rPr>
              <a:t>付泊源</a:t>
            </a:r>
            <a:r>
              <a:rPr lang="en-US" sz="1400" b="1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</a:rPr>
              <a:t>        </a:t>
            </a:r>
            <a:r>
              <a:rPr lang="en-US" sz="1400" b="1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学号：202311071205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0CC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344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项目背景与定位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234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0CC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94960" y="1344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博客需求分析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68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0CC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功能需求总览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17720" y="228600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468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0CC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39496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创新亮点设计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03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0CC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3813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通用前端需求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17720" y="3520440"/>
            <a:ext cx="3749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703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0CC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94960" y="3813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技术选型与总结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项目背景与定位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GrunRay Wiki </a:t>
            </a:r>
            <a:r>
              <a:rPr lang="en-US" sz="14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目标是构建一个集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个人博客、项目展示、社区互动、碎念随笔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于一体的现代化个人站点。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核心诉求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展示前端工程化能力与交互设计水平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Markdown 为内容源，实现内容与 UI 解耦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在常规博客功能之上，做出差异化体验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覆盖课程要求的 CRUD、路由、状态管理与动效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051560"/>
            <a:ext cx="3154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0" y="1051560"/>
            <a:ext cx="64008" cy="137160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四大板块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23560" y="1554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· 个人介绍与胶片流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 · 博客 + 项目展示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 · 留言与友链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栖息 · 碎念与推荐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2606040"/>
            <a:ext cx="3154680" cy="1667256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2606039"/>
            <a:ext cx="64008" cy="1667255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31089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访客：浏览、搜索、留言、申请友链</a:t>
            </a:r>
            <a:endParaRPr lang="en-US" sz="1100" dirty="0">
              <a:solidFill>
                <a:srgbClr val="4D6B6E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</a:rPr>
              <a:t>OAuth </a:t>
            </a:r>
            <a:r>
              <a:rPr lang="zh-CN" alt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</a:rPr>
              <a:t>登录用户： </a:t>
            </a:r>
            <a:r>
              <a:rPr lang="en-US" altLang="zh-CN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</a:rPr>
              <a:t>GitHub/Google </a:t>
            </a:r>
            <a:r>
              <a:rPr lang="zh-CN" alt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</a:rPr>
              <a:t>登录后发表、回复留言（验证码 </a:t>
            </a:r>
            <a:r>
              <a:rPr lang="en-US" altLang="zh-CN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</a:rPr>
              <a:t>+ </a:t>
            </a:r>
            <a:r>
              <a:rPr lang="zh-CN" alt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</a:rPr>
              <a:t>频控）</a:t>
            </a:r>
            <a:endParaRPr lang="en-US" sz="1100" dirty="0">
              <a:solidFill>
                <a:srgbClr val="4D6B6E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站长：内容导入、审核互动、媒体管理</a:t>
            </a:r>
            <a:endParaRPr lang="en-US" sz="1100" dirty="0">
              <a:solidFill>
                <a:srgbClr val="4D6B6E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9E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博客需求分析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基于个人站点场景，对博客模块进行需求拆解：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7406640" cy="307238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需求描述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文章浏览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算法笔记 / 项目笔记 / 通用文章分类展示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文章详情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 渲染、代码高亮、复制、相关推荐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中文关键词搜索（jieba 分词 + 打分）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RSS 订阅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服务端生成 rss.xml 供阅读器订阅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每路由 title / OG / JSON-LD 结构化数据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 导入管线（非在线 CMS）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功能需求总览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60120"/>
            <a:ext cx="64008" cy="169164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博客系统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 / 详情 / 搜索 / RSS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64008" cy="1691640"/>
          </a:xfrm>
          <a:prstGeom prst="rect">
            <a:avLst/>
          </a:prstGeom>
          <a:solidFill>
            <a:srgbClr val="6B9EA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项目展示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卡片列表 / layout 块 / Demo 嵌入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64008" cy="169164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栖息 Xiqi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碎念分栏 / 关于 / 推荐页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3464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834640"/>
            <a:ext cx="64008" cy="1691640"/>
          </a:xfrm>
          <a:prstGeom prst="rect">
            <a:avLst/>
          </a:prstGeom>
          <a:solidFill>
            <a:srgbClr val="D4EAD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社区互动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337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留言板 / 友链申请与审核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83464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834640"/>
            <a:ext cx="64008" cy="1691640"/>
          </a:xfrm>
          <a:prstGeom prst="rect">
            <a:avLst/>
          </a:prstGeom>
          <a:solidFill>
            <a:srgbClr val="2F4238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全局壳层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337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 / 主题 / i18n / 音乐播放器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834640"/>
            <a:ext cx="64008" cy="1691640"/>
          </a:xfrm>
          <a:prstGeom prst="rect">
            <a:avLst/>
          </a:prstGeom>
          <a:solidFill>
            <a:srgbClr val="6B9EA3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内容管线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337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导入 / API 只读分发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4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6B9EA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560320" cy="2560320"/>
          </a:xfrm>
          <a:prstGeom prst="ellipse">
            <a:avLst/>
          </a:prstGeom>
          <a:solidFill>
            <a:srgbClr val="A0CCA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2F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创新亮点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在常规博客之上，打造差异化交互体验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2606040" cy="713232"/>
          </a:xfrm>
          <a:prstGeom prst="rect">
            <a:avLst/>
          </a:prstGeom>
          <a:solidFill>
            <a:srgbClr val="6B9EA3">
              <a:alpha val="60000"/>
            </a:srgbClr>
          </a:solidFill>
          <a:ln w="6350">
            <a:solidFill>
              <a:srgbClr val="A0CC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3319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SVG 开屏动画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蜗牛路径行走 + iris 揭幕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3246120"/>
            <a:ext cx="2606040" cy="713232"/>
          </a:xfrm>
          <a:prstGeom prst="rect">
            <a:avLst/>
          </a:prstGeom>
          <a:solidFill>
            <a:srgbClr val="6B9EA3">
              <a:alpha val="60000"/>
            </a:srgbClr>
          </a:solidFill>
          <a:ln w="6350">
            <a:solidFill>
              <a:srgbClr val="A0CC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3319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Footer 页脚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滚动揭示 + slice 扭曲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3246120"/>
            <a:ext cx="2606040" cy="713232"/>
          </a:xfrm>
          <a:prstGeom prst="rect">
            <a:avLst/>
          </a:prstGeom>
          <a:solidFill>
            <a:srgbClr val="6B9EA3">
              <a:alpha val="60000"/>
            </a:srgbClr>
          </a:solidFill>
          <a:ln w="6350">
            <a:solidFill>
              <a:srgbClr val="A0CC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3319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Demo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0488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iframe 内嵌可交互演示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2606040" cy="713232"/>
          </a:xfrm>
          <a:prstGeom prst="rect">
            <a:avLst/>
          </a:prstGeom>
          <a:solidFill>
            <a:srgbClr val="6B9EA3">
              <a:alpha val="60000"/>
            </a:srgbClr>
          </a:solidFill>
          <a:ln w="6350">
            <a:solidFill>
              <a:srgbClr val="A0CC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胶片首页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" y="4462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横向胶卷流 + 全屏预览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4114800"/>
            <a:ext cx="2606040" cy="713232"/>
          </a:xfrm>
          <a:prstGeom prst="rect">
            <a:avLst/>
          </a:prstGeom>
          <a:solidFill>
            <a:srgbClr val="6B9EA3">
              <a:alpha val="60000"/>
            </a:srgbClr>
          </a:solidFill>
          <a:ln w="6350">
            <a:solidFill>
              <a:srgbClr val="A0CC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黑胶播放器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4462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可拖拽 BGM + 摇杆音量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4114800"/>
            <a:ext cx="2606040" cy="713232"/>
          </a:xfrm>
          <a:prstGeom prst="rect">
            <a:avLst/>
          </a:prstGeom>
          <a:solidFill>
            <a:srgbClr val="6B9EA3">
              <a:alpha val="60000"/>
            </a:srgbClr>
          </a:solidFill>
          <a:ln w="6350">
            <a:solidFill>
              <a:srgbClr val="A0CC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栖息分栏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0488" y="4462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FLIP 动画阅读器式交互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① · SVG 开屏动画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3474720" cy="3566160"/>
          </a:xfrm>
          <a:prstGeom prst="rect">
            <a:avLst/>
          </a:prstGeom>
          <a:solidFill>
            <a:srgbClr val="334F5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645920"/>
            <a:ext cx="1828800" cy="1828800"/>
          </a:xfrm>
          <a:prstGeom prst="ellipse">
            <a:avLst/>
          </a:prstGeom>
          <a:ln w="25400">
            <a:solidFill>
              <a:srgbClr val="A0CCA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00200" y="1920240"/>
            <a:ext cx="1280160" cy="1280160"/>
          </a:xfrm>
          <a:prstGeom prst="ellipse">
            <a:avLst/>
          </a:prstGeom>
          <a:ln w="19050">
            <a:solidFill>
              <a:srgbClr val="A0CC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306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CC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Splash </a:t>
            </a:r>
            <a:r>
              <a:rPr lang="en-US" sz="1400" dirty="0" err="1">
                <a:solidFill>
                  <a:srgbClr val="A0CC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Woniu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E2F2E8"/>
          </a:solidFill>
          <a:ln w="6350">
            <a:solidFill>
              <a:srgbClr val="A8C9B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40690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F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Affinity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4041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SVG 素材 · Affinity 绘制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51960" y="100584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实现方案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开屏 SVG 矢量图形使用 Affinity Designer 独立绘制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iframe 播放 SVG 路径动画（蜗牛行走）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postMessage 与主页面交接，螺旋壳坐标映射头像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课程价值：矢量设计 + SVG 动画 + 跨 iframe 通信 + GSAP 编排</a:t>
            </a:r>
            <a:endParaRPr lang="en-US" sz="13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9AA39F3-EF3E-9EBB-F8A6-8E4309B20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99" y="1582674"/>
            <a:ext cx="3208762" cy="197815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4AB340D-5417-F8D4-D889-8E15CD1B7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54298"/>
            <a:ext cx="250352" cy="230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② · Footer 页脚交互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3840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60120"/>
            <a:ext cx="64008" cy="182880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滚动揭示（Reveal）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页面滚至底部时，品牌字逐片显现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Glass 风格 meta bar（ICP / RSS）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设计参考 Trae 官网（trae.ai）Footer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Xiqi 分栏联动 footer lock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3840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926080"/>
            <a:ext cx="64008" cy="1691640"/>
          </a:xfrm>
          <a:prstGeom prst="rect">
            <a:avLst/>
          </a:prstGeom>
          <a:solidFill>
            <a:srgbClr val="6B9EA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指针扭曲（Distort）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鼠标靠近页脚时 20 片 slice 局部拖影错位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FLIP 布局 + CSS transform 实现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交互参考 Trae 官网 Footer 拖影效果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39776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2574" y="2152195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800" dirty="0">
                <a:solidFill>
                  <a:srgbClr val="334F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GRUNRAY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10859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6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FooterGrunRayPanel · useFooterGrunRayReveal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参考：Trae 官网 Footer · trae.ai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4114800"/>
            <a:ext cx="3611880" cy="320040"/>
          </a:xfrm>
          <a:prstGeom prst="rect">
            <a:avLst/>
          </a:prstGeom>
          <a:solidFill>
            <a:srgbClr val="D6E4E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41330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ICP 备案 · RSS 订阅 · 外链导航</a:t>
            </a:r>
            <a:endParaRPr lang="en-US" sz="9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46FB8F3-E8A7-47B4-D6FD-6D10B5DD3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88" y="1042036"/>
            <a:ext cx="3895344" cy="70915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3535222-432D-0ACE-7454-3E923D4F8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420" y="1853990"/>
            <a:ext cx="3835908" cy="90106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E957264-EC0A-4017-7ACD-8816CC18C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673" y="2830156"/>
            <a:ext cx="878314" cy="84252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9418FD4-8AA1-A9D9-A7F0-5DA43DEFF5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581" y="2823972"/>
            <a:ext cx="902399" cy="848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9E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 ③ · 项目 Demo 嵌入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 块驱动架构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项目详情页由 YAML front matter 中的 layout 数组驱动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registry.ts 注册块类型：overview / demo / gallery / changelog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新增展示形式无需修改路由，内容与 UI 解耦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DemoBlock 能力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iframe 内嵌 demo_url 或 demo_embed_html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sandbox 安全策略限制脚本权限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示例：CRSEA Three.js 交互演示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资源独立构建，通过 /api/media/files </a:t>
            </a:r>
            <a:r>
              <a:rPr lang="en-US" sz="12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</a:t>
            </a:r>
            <a:endParaRPr lang="en-US" sz="1200" dirty="0">
              <a:solidFill>
                <a:srgbClr val="4D6B6E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>
              <a:buSzPct val="100000"/>
            </a:pPr>
            <a:r>
              <a:rPr lang="zh-CN" altLang="en-US" sz="15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</a:rPr>
              <a:t>打包方式</a:t>
            </a:r>
            <a:endParaRPr lang="en-US" altLang="zh-CN" sz="1500" b="1" dirty="0">
              <a:solidFill>
                <a:srgbClr val="334F52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zh-CN" altLang="en-US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</a:rPr>
              <a:t>使用</a:t>
            </a:r>
            <a:r>
              <a:rPr lang="zh-CN" altLang="zh-CN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</a:rPr>
              <a:t>npm run build:demos</a:t>
            </a:r>
            <a:r>
              <a:rPr lang="zh-CN" altLang="en-US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</a:rPr>
              <a:t>命令打包，</a:t>
            </a:r>
            <a:r>
              <a:rPr lang="zh-CN" altLang="zh-CN" sz="12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</a:rPr>
              <a:t>Demo 产物会生成到：`backend/content/media/demos/...`</a:t>
            </a:r>
          </a:p>
          <a:p>
            <a:pPr marL="342900" indent="-342900">
              <a:buSzPct val="100000"/>
              <a:buChar char="•"/>
            </a:pPr>
            <a:endParaRPr lang="zh-CN" altLang="zh-CN" sz="1200" dirty="0">
              <a:solidFill>
                <a:srgbClr val="4D6B6E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buSzPct val="100000"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74920" y="960120"/>
            <a:ext cx="3566160" cy="2286000"/>
          </a:xfrm>
          <a:prstGeom prst="rect">
            <a:avLst/>
          </a:prstGeom>
          <a:solidFill>
            <a:srgbClr val="334F52"/>
          </a:solidFill>
          <a:ln w="12700">
            <a:solidFill>
              <a:srgbClr val="A0CCAB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C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iframe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49240" y="1508760"/>
            <a:ext cx="3017520" cy="1508760"/>
          </a:xfrm>
          <a:prstGeom prst="rect">
            <a:avLst/>
          </a:prstGeom>
          <a:solidFill>
            <a:srgbClr val="6B9EA3"/>
          </a:solidFill>
          <a:ln/>
        </p:spPr>
      </p:sp>
      <p:sp>
        <p:nvSpPr>
          <p:cNvPr id="8" name="Text 6"/>
          <p:cNvSpPr/>
          <p:nvPr/>
        </p:nvSpPr>
        <p:spPr>
          <a:xfrm>
            <a:off x="534924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Interactive Demo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74920" y="3429000"/>
            <a:ext cx="3566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74920" y="3429000"/>
            <a:ext cx="64008" cy="11887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3566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课程体现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组件化设计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安全沙箱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静态资源工程化</a:t>
            </a:r>
            <a:endParaRPr lang="en-US" sz="11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E2EC235-E92C-2D1F-50E3-56BB22CD768D}"/>
              </a:ext>
            </a:extLst>
          </p:cNvPr>
          <p:cNvPicPr>
            <a:picLocks/>
          </p:cNvPicPr>
          <p:nvPr/>
        </p:nvPicPr>
        <p:blipFill>
          <a:blip r:embed="rId3"/>
          <a:srcRect t="14629"/>
          <a:stretch>
            <a:fillRect/>
          </a:stretch>
        </p:blipFill>
        <p:spPr>
          <a:xfrm>
            <a:off x="5829882" y="1525545"/>
            <a:ext cx="2101956" cy="1475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4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AA322-47C0-A67A-9FDD-7F8AE907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E2843A-A519-AA4E-DB5A-D34066C5F96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C329FF-FF9E-19A3-372D-31E18A10AF54}"/>
              </a:ext>
            </a:extLst>
          </p:cNvPr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其他创新补充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36C7E0-C39D-6BA9-4D77-F34949D64686}"/>
              </a:ext>
            </a:extLst>
          </p:cNvPr>
          <p:cNvSpPr/>
          <p:nvPr/>
        </p:nvSpPr>
        <p:spPr>
          <a:xfrm>
            <a:off x="502920" y="960120"/>
            <a:ext cx="401309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70B2633-7A08-9A0B-50F5-A1BADBA0028C}"/>
              </a:ext>
            </a:extLst>
          </p:cNvPr>
          <p:cNvSpPr/>
          <p:nvPr/>
        </p:nvSpPr>
        <p:spPr>
          <a:xfrm>
            <a:off x="502920" y="960120"/>
            <a:ext cx="64008" cy="201168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4D3E399-2C66-E756-C15D-49CE0DF12CFB}"/>
              </a:ext>
            </a:extLst>
          </p:cNvPr>
          <p:cNvSpPr/>
          <p:nvPr/>
        </p:nvSpPr>
        <p:spPr>
          <a:xfrm>
            <a:off x="6858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首页胶片流 FilmFeed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0840F8-2001-CBF2-B1E3-733DCE8057BC}"/>
              </a:ext>
            </a:extLst>
          </p:cNvPr>
          <p:cNvSpPr/>
          <p:nvPr/>
        </p:nvSpPr>
        <p:spPr>
          <a:xfrm>
            <a:off x="640080" y="14630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模拟胶卷穿孔横向滚动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滚轮调速 + 全屏预览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 API 动态加载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E2509B2-4801-47B3-7294-629C7074AB42}"/>
              </a:ext>
            </a:extLst>
          </p:cNvPr>
          <p:cNvSpPr/>
          <p:nvPr/>
        </p:nvSpPr>
        <p:spPr>
          <a:xfrm>
            <a:off x="4864331" y="960120"/>
            <a:ext cx="401309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1437C26-4881-5A01-9E72-35D8FAA83FF8}"/>
              </a:ext>
            </a:extLst>
          </p:cNvPr>
          <p:cNvSpPr/>
          <p:nvPr/>
        </p:nvSpPr>
        <p:spPr>
          <a:xfrm>
            <a:off x="4864331" y="960120"/>
            <a:ext cx="64008" cy="20116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8507760-1CB5-6ADD-864E-FC5BEAB14261}"/>
              </a:ext>
            </a:extLst>
          </p:cNvPr>
          <p:cNvSpPr/>
          <p:nvPr/>
        </p:nvSpPr>
        <p:spPr>
          <a:xfrm>
            <a:off x="5047211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黑胶音乐播放器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6A8F3BB-558C-90CC-69F2-1226649923CB}"/>
              </a:ext>
            </a:extLst>
          </p:cNvPr>
          <p:cNvSpPr/>
          <p:nvPr/>
        </p:nvSpPr>
        <p:spPr>
          <a:xfrm>
            <a:off x="5001491" y="14630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可拖拽黑胶 UI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摇杆式音量控制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曲目</a:t>
            </a: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API+localStorage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FC77838-0567-E816-54D7-C6480C4F0764}"/>
              </a:ext>
            </a:extLst>
          </p:cNvPr>
          <p:cNvSpPr/>
          <p:nvPr/>
        </p:nvSpPr>
        <p:spPr>
          <a:xfrm>
            <a:off x="502921" y="3061374"/>
            <a:ext cx="837450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38C2FFF-7B7A-CCE2-FF5E-F73CA560082A}"/>
              </a:ext>
            </a:extLst>
          </p:cNvPr>
          <p:cNvSpPr/>
          <p:nvPr/>
        </p:nvSpPr>
        <p:spPr>
          <a:xfrm>
            <a:off x="502921" y="3061374"/>
            <a:ext cx="98567" cy="2011680"/>
          </a:xfrm>
          <a:prstGeom prst="rect">
            <a:avLst/>
          </a:prstGeom>
          <a:solidFill>
            <a:srgbClr val="6B9EA3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7984100-464D-4128-82C8-8C9E9F3EF3CD}"/>
              </a:ext>
            </a:extLst>
          </p:cNvPr>
          <p:cNvSpPr/>
          <p:nvPr/>
        </p:nvSpPr>
        <p:spPr>
          <a:xfrm>
            <a:off x="685801" y="3198534"/>
            <a:ext cx="35202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栖息分栏 XiqiSplit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E4258F-4CD7-923D-AD94-8AB36FEE64BD}"/>
              </a:ext>
            </a:extLst>
          </p:cNvPr>
          <p:cNvSpPr/>
          <p:nvPr/>
        </p:nvSpPr>
        <p:spPr>
          <a:xfrm>
            <a:off x="640082" y="3564294"/>
            <a:ext cx="35906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列表选中 FLIP 展开详情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阅读器式双栏交互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与页脚/入场动画联动</a:t>
            </a:r>
            <a:endParaRPr lang="en-US" sz="11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FAB3CD8D-1F50-D10B-E75B-9A7005451870}"/>
              </a:ext>
            </a:extLst>
          </p:cNvPr>
          <p:cNvSpPr/>
          <p:nvPr/>
        </p:nvSpPr>
        <p:spPr>
          <a:xfrm>
            <a:off x="2564219" y="1034065"/>
            <a:ext cx="1881798" cy="1851660"/>
          </a:xfrm>
          <a:prstGeom prst="rect">
            <a:avLst/>
          </a:prstGeom>
          <a:solidFill>
            <a:srgbClr val="334F5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FBB31B0B-00DD-B153-2CF2-07A33C165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440" y="1123639"/>
            <a:ext cx="1001342" cy="1672512"/>
          </a:xfrm>
          <a:prstGeom prst="rect">
            <a:avLst/>
          </a:prstGeom>
        </p:spPr>
      </p:pic>
      <p:sp>
        <p:nvSpPr>
          <p:cNvPr id="32" name="Shape 2">
            <a:extLst>
              <a:ext uri="{FF2B5EF4-FFF2-40B4-BE49-F238E27FC236}">
                <a16:creationId xmlns:a16="http://schemas.microsoft.com/office/drawing/2014/main" id="{0770CEB2-1438-23E8-9041-144E9B4357C4}"/>
              </a:ext>
            </a:extLst>
          </p:cNvPr>
          <p:cNvSpPr/>
          <p:nvPr/>
        </p:nvSpPr>
        <p:spPr>
          <a:xfrm>
            <a:off x="2578689" y="3153398"/>
            <a:ext cx="6113247" cy="1851660"/>
          </a:xfrm>
          <a:prstGeom prst="rect">
            <a:avLst/>
          </a:prstGeom>
          <a:solidFill>
            <a:srgbClr val="334F5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69A53DFE-950F-BBCD-7093-A09796497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086" y="3346330"/>
            <a:ext cx="3610832" cy="1556912"/>
          </a:xfrm>
          <a:prstGeom prst="rect">
            <a:avLst/>
          </a:prstGeom>
        </p:spPr>
      </p:pic>
      <p:sp>
        <p:nvSpPr>
          <p:cNvPr id="35" name="Shape 2">
            <a:extLst>
              <a:ext uri="{FF2B5EF4-FFF2-40B4-BE49-F238E27FC236}">
                <a16:creationId xmlns:a16="http://schemas.microsoft.com/office/drawing/2014/main" id="{B0DEC19E-5441-6F36-0FF6-7B5FE544D520}"/>
              </a:ext>
            </a:extLst>
          </p:cNvPr>
          <p:cNvSpPr/>
          <p:nvPr/>
        </p:nvSpPr>
        <p:spPr>
          <a:xfrm>
            <a:off x="6925630" y="1035197"/>
            <a:ext cx="1881798" cy="1851660"/>
          </a:xfrm>
          <a:prstGeom prst="rect">
            <a:avLst/>
          </a:prstGeom>
          <a:solidFill>
            <a:srgbClr val="334F5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7473076-9125-FA0C-97BD-F0818F1B0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636" y="1218811"/>
            <a:ext cx="1438380" cy="14537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7C19B41-B5A8-7745-30A0-1B01A6B1C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6353" y="3346330"/>
            <a:ext cx="2038269" cy="155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03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 err="1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r>
              <a:rPr lang="zh-CN" altLang="en-US" sz="28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r>
              <a:rPr lang="en-US" altLang="zh-CN" sz="2800" b="1" dirty="0" err="1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</a:t>
            </a:r>
            <a:endParaRPr lang="en-US" altLang="zh-CN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838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60120"/>
            <a:ext cx="64008" cy="201168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3154680"/>
            <a:ext cx="2024913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54680"/>
            <a:ext cx="64008" cy="150876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路由级照片背景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按路由切换背景图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各页独立入场 CSS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GSAP 时间轴编排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960120"/>
            <a:ext cx="64008" cy="2011680"/>
          </a:xfrm>
          <a:prstGeom prst="rect">
            <a:avLst/>
          </a:prstGeom>
          <a:solidFill>
            <a:srgbClr val="D4EAD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</a:t>
            </a:r>
            <a:r>
              <a:rPr lang="en-US" sz="1400" b="1" dirty="0" err="1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乱彩蛋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14630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Glitch 视觉故障效果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abstract 主题彩蛋解锁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增强站点记忆点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7758" y="3154680"/>
            <a:ext cx="392904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7758" y="3154680"/>
            <a:ext cx="64008" cy="150876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</a:t>
            </a:r>
            <a:r>
              <a:rPr lang="zh-CN" alt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1490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jieba</a:t>
            </a: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分词+TF-IDF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应用层相关性打分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优于简单 SQL LIKE</a:t>
            </a:r>
            <a:endParaRPr lang="en-US" sz="11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F27B571-A72C-5388-A526-173F8DD9100B}"/>
              </a:ext>
            </a:extLst>
          </p:cNvPr>
          <p:cNvSpPr/>
          <p:nvPr/>
        </p:nvSpPr>
        <p:spPr>
          <a:xfrm>
            <a:off x="2527833" y="1015061"/>
            <a:ext cx="6113247" cy="1851660"/>
          </a:xfrm>
          <a:prstGeom prst="rect">
            <a:avLst/>
          </a:prstGeom>
          <a:solidFill>
            <a:srgbClr val="334F5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CA85C049-3BDA-9949-F0E5-47AB86142554}"/>
              </a:ext>
            </a:extLst>
          </p:cNvPr>
          <p:cNvPicPr>
            <a:picLocks/>
          </p:cNvPicPr>
          <p:nvPr/>
        </p:nvPicPr>
        <p:blipFill>
          <a:blip r:embed="rId3"/>
          <a:srcRect t="31403" b="24775"/>
          <a:stretch>
            <a:fillRect/>
          </a:stretch>
        </p:blipFill>
        <p:spPr>
          <a:xfrm>
            <a:off x="2618658" y="1126355"/>
            <a:ext cx="5930981" cy="1652805"/>
          </a:xfrm>
          <a:prstGeom prst="rect">
            <a:avLst/>
          </a:prstGeom>
        </p:spPr>
      </p:pic>
      <p:sp>
        <p:nvSpPr>
          <p:cNvPr id="35" name="Shape 2">
            <a:extLst>
              <a:ext uri="{FF2B5EF4-FFF2-40B4-BE49-F238E27FC236}">
                <a16:creationId xmlns:a16="http://schemas.microsoft.com/office/drawing/2014/main" id="{3910595F-992E-CBF0-00B1-BF9233B09545}"/>
              </a:ext>
            </a:extLst>
          </p:cNvPr>
          <p:cNvSpPr/>
          <p:nvPr/>
        </p:nvSpPr>
        <p:spPr>
          <a:xfrm>
            <a:off x="6569959" y="3200913"/>
            <a:ext cx="2053610" cy="1399675"/>
          </a:xfrm>
          <a:prstGeom prst="rect">
            <a:avLst/>
          </a:prstGeom>
          <a:solidFill>
            <a:srgbClr val="334F5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D872CE6B-6454-1703-EAFE-E5AC7DC5035C}"/>
              </a:ext>
            </a:extLst>
          </p:cNvPr>
          <p:cNvPicPr>
            <a:picLocks/>
          </p:cNvPicPr>
          <p:nvPr/>
        </p:nvPicPr>
        <p:blipFill>
          <a:blip r:embed="rId4"/>
          <a:srcRect r="48869"/>
          <a:stretch>
            <a:fillRect/>
          </a:stretch>
        </p:blipFill>
        <p:spPr>
          <a:xfrm>
            <a:off x="6800066" y="3291840"/>
            <a:ext cx="1593396" cy="1175968"/>
          </a:xfrm>
          <a:prstGeom prst="rect">
            <a:avLst/>
          </a:prstGeom>
        </p:spPr>
      </p:pic>
      <p:sp>
        <p:nvSpPr>
          <p:cNvPr id="39" name="Shape 14">
            <a:extLst>
              <a:ext uri="{FF2B5EF4-FFF2-40B4-BE49-F238E27FC236}">
                <a16:creationId xmlns:a16="http://schemas.microsoft.com/office/drawing/2014/main" id="{FE9D0016-1C5C-3747-83FE-966ED791C1AA}"/>
              </a:ext>
            </a:extLst>
          </p:cNvPr>
          <p:cNvSpPr/>
          <p:nvPr/>
        </p:nvSpPr>
        <p:spPr>
          <a:xfrm>
            <a:off x="2630339" y="3157249"/>
            <a:ext cx="2024913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8AAA04E0-CDFD-8EC7-9138-6624BDE8A2A8}"/>
              </a:ext>
            </a:extLst>
          </p:cNvPr>
          <p:cNvSpPr/>
          <p:nvPr/>
        </p:nvSpPr>
        <p:spPr>
          <a:xfrm>
            <a:off x="2630339" y="3157249"/>
            <a:ext cx="64008" cy="150876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87BED12D-70C3-9A73-A7A1-30A0D361D6D1}"/>
              </a:ext>
            </a:extLst>
          </p:cNvPr>
          <p:cNvSpPr/>
          <p:nvPr/>
        </p:nvSpPr>
        <p:spPr>
          <a:xfrm>
            <a:off x="2813219" y="329440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SEO </a:t>
            </a:r>
            <a:r>
              <a:rPr lang="zh-CN" alt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搜索引擎优化</a:t>
            </a:r>
            <a:endParaRPr lang="en-US" sz="14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62D4E47B-716B-3C7B-5CE7-15D846F98BEA}"/>
              </a:ext>
            </a:extLst>
          </p:cNvPr>
          <p:cNvSpPr/>
          <p:nvPr/>
        </p:nvSpPr>
        <p:spPr>
          <a:xfrm>
            <a:off x="2767499" y="3660169"/>
            <a:ext cx="1887753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zh-CN" alt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各页 </a:t>
            </a:r>
            <a:r>
              <a:rPr lang="en-US" sz="11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useSeoMeta</a:t>
            </a: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按路由注入 </a:t>
            </a: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JSON-LD </a:t>
            </a:r>
            <a:r>
              <a:rPr lang="zh-CN" alt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结构化数据（</a:t>
            </a:r>
            <a:r>
              <a:rPr lang="en-US" sz="11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BlogPosting</a:t>
            </a: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dirty="0" err="1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WebSite</a:t>
            </a: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EAD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通用前端需求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60120"/>
            <a:ext cx="64008" cy="352044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 CRUD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 对接（axios/fetch 封装）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留言/友链：访客 Create + 站长 Update/Delete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碎念撰写：站长表单 + 文件导入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列表分页、筛选、骨架屏加载态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64008" cy="3520440"/>
          </a:xfrm>
          <a:prstGeom prst="rect">
            <a:avLst/>
          </a:prstGeom>
          <a:solidFill>
            <a:srgbClr val="6B9EA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交互与动效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GSAP + CSS Keyframes 页面入场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FLIP 动画（顶栏溢出/分栏/页脚）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主题切换 light / dark / abstract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prefers-reduced-motion 降级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64008" cy="352044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工程化与体验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331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 嵌套路由 + scrollBehavior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全局状态（主题/音乐/背景）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vue-i18n 中英文切换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D6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 + SEO meta + JSON-LD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4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技术选型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412480" cy="332841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前端框架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 3 + TypeScript + Vite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Composition API、类型安全、快速 HMR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路由/状态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 Router 5 + Pinia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嵌套路由、全局 UI 状态管理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样式/动画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Less + GSAP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模块化 CSS、时间轴动画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marked + DOMPurify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客户端/服务端双轨渲染与消毒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@unhead/vue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 head、OG、结构化数据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Flask + PyMySQL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REST API、Markdown 导入、jieba 搜索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34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6B9EA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474720"/>
            <a:ext cx="2560320" cy="2560320"/>
          </a:xfrm>
          <a:prstGeom prst="ellipse">
            <a:avLst/>
          </a:prstGeom>
          <a:solidFill>
            <a:srgbClr val="A0CCA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2F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→ 分析 → 实现 → 创新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本项目以</a:t>
            </a:r>
            <a:r>
              <a:rPr lang="en-US" sz="1300" b="1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个人博客</a:t>
            </a:r>
            <a:r>
              <a:rPr lang="en-US" sz="13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为课程载体，在实现完整前端工程能力的同时，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D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通过开屏动画、页脚交互、Demo 嵌入等创新点体现差异化设计思维。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预期成果：可部署的个人站点 + 可演示的交互亮点 + 规范的内容管线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434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0C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749</Words>
  <Application>Microsoft Office PowerPoint</Application>
  <PresentationFormat>全屏显示(16:9)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Microsoft YaHei</vt:lpstr>
      <vt:lpstr>Arial</vt:lpstr>
      <vt:lpstr>Arial Black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GrunRay Wiki 需求汇报</dc:title>
  <dc:subject>PptxGenJS Presentation</dc:subject>
  <dc:creator>GrunRay</dc:creator>
  <cp:lastModifiedBy>Ray Grun</cp:lastModifiedBy>
  <cp:revision>49</cp:revision>
  <dcterms:created xsi:type="dcterms:W3CDTF">2026-06-02T15:48:36Z</dcterms:created>
  <dcterms:modified xsi:type="dcterms:W3CDTF">2026-06-02T17:16:59Z</dcterms:modified>
</cp:coreProperties>
</file>