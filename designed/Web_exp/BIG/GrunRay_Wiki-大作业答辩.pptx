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72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4074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4F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34840"/>
            <a:ext cx="9144000" cy="713232"/>
          </a:xfrm>
          <a:prstGeom prst="rect">
            <a:avLst/>
          </a:prstGeom>
          <a:solidFill>
            <a:srgbClr val="A0CCAB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344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GrunRay Wiki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66928" y="21488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8D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前端课程 · 大作业答辩汇报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2788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D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 Wiki / 作品集站点  |  Vue 3 单页应用  |  三人小组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45262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B8D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成员</a:t>
            </a:r>
            <a:r>
              <a:rPr lang="en-US" sz="1200" dirty="0">
                <a:solidFill>
                  <a:srgbClr val="B8D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</a:t>
            </a:r>
            <a:r>
              <a:rPr lang="zh-CN" altLang="en-US" sz="1200" dirty="0">
                <a:solidFill>
                  <a:srgbClr val="B8D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付泊源 </a:t>
            </a:r>
            <a:r>
              <a:rPr lang="en-US" sz="1200" dirty="0">
                <a:solidFill>
                  <a:srgbClr val="B8D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zh-CN" altLang="en-US" sz="1200" dirty="0">
                <a:solidFill>
                  <a:srgbClr val="B8D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高新博</a:t>
            </a:r>
            <a:r>
              <a:rPr lang="en-US" sz="1200" dirty="0">
                <a:solidFill>
                  <a:srgbClr val="B8D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zh-CN" altLang="en-US" sz="1200" dirty="0">
                <a:solidFill>
                  <a:srgbClr val="B8D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韩文星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D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日期：2026 年 5 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6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汇报提纲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7772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项目概述与需求分析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功能模块与页面设计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技术方案与核心亮点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业务模块与小组分工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实现展示 · 总结与 Q&amp;A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178040" y="1828800"/>
            <a:ext cx="1508760" cy="1508760"/>
          </a:xfrm>
          <a:prstGeom prst="ellipse">
            <a:avLst/>
          </a:prstGeom>
          <a:solidFill>
            <a:srgbClr val="D4EADC"/>
          </a:solidFill>
          <a:ln w="25400">
            <a:solidFill>
              <a:srgbClr val="A0CC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8040" y="21488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3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33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模块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6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一、项目概述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GrunRay Wiki — 个人 Wiki / 作品集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3977640" cy="3246120"/>
          </a:xfrm>
          <a:prstGeom prst="rect">
            <a:avLst/>
          </a:prstGeom>
          <a:solidFill>
            <a:srgbClr val="E2F2E8"/>
          </a:solidFill>
          <a:ln w="1270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334F52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08760"/>
            <a:ext cx="64008" cy="324612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91640"/>
            <a:ext cx="3611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背景：课程要求可交互、有数据处理的前端应用；本组以真实站点为载体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目的：聚合项目与博客，支持留言/友链互动，实践 Vue 3 工程化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用户：普通访客浏览与投稿；站长 OAuth 后审核留言与友链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场景：个人品牌、算法笔记、竞赛项目归档、长期作品集运营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508760"/>
            <a:ext cx="3931920" cy="1417320"/>
          </a:xfrm>
          <a:prstGeom prst="rect">
            <a:avLst/>
          </a:prstGeom>
          <a:solidFill>
            <a:srgbClr val="E2F2E8"/>
          </a:solidFill>
          <a:ln w="1270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334F52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508760"/>
            <a:ext cx="64008" cy="141732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664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三人组规模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201168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功能模块 ≥ 9（本项 12）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路由页面 ≥ 9（本项 14+）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前端为主，API 作数据服务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3063240"/>
            <a:ext cx="1874520" cy="1234440"/>
          </a:xfrm>
          <a:prstGeom prst="rect">
            <a:avLst/>
          </a:prstGeom>
          <a:solidFill>
            <a:srgbClr val="E2F2E8"/>
          </a:solidFill>
          <a:ln w="1270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334F52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3063240"/>
            <a:ext cx="64008" cy="123444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326440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F4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818888" y="386791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路由视图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3063240"/>
            <a:ext cx="1874520" cy="1234440"/>
          </a:xfrm>
          <a:prstGeom prst="rect">
            <a:avLst/>
          </a:prstGeom>
          <a:solidFill>
            <a:srgbClr val="E2F2E8"/>
          </a:solidFill>
          <a:ln w="1270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334F52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20840" y="3063240"/>
            <a:ext cx="64008" cy="123444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326440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F4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830568" y="386791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功能模块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6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二、需求分析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功能需求 · 非功能需求 · 用户角色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2697480" cy="3291840"/>
          </a:xfrm>
          <a:prstGeom prst="rect">
            <a:avLst/>
          </a:prstGeom>
          <a:solidFill>
            <a:srgbClr val="E2F2E8"/>
          </a:solidFill>
          <a:ln w="1270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334F52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81328"/>
            <a:ext cx="64008" cy="329184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627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要解决的问题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029968"/>
            <a:ext cx="24231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信息分散 → 一站聚合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作品展示 → 可嵌入 Demo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互动与防垃圾 → 验证码+审核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课程要求 → 非纯静态交互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481328"/>
            <a:ext cx="2697480" cy="3291840"/>
          </a:xfrm>
          <a:prstGeom prst="rect">
            <a:avLst/>
          </a:prstGeom>
          <a:solidFill>
            <a:srgbClr val="E2F2E8"/>
          </a:solidFill>
          <a:ln w="1270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334F52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481328"/>
            <a:ext cx="64008" cy="329184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1627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2029968"/>
            <a:ext cx="24231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首页胶片流 / 项目时间轴 / 博客筛选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留言发表与站长审核 / 友链申请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栖息分栏 / 404 主题彩蛋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主题·语言·音乐偏好持久化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481328"/>
            <a:ext cx="2697480" cy="3291840"/>
          </a:xfrm>
          <a:prstGeom prst="rect">
            <a:avLst/>
          </a:prstGeom>
          <a:solidFill>
            <a:srgbClr val="E2F2E8"/>
          </a:solidFill>
          <a:ln w="1270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334F52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481328"/>
            <a:ext cx="64008" cy="329184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15" name="Text 13"/>
          <p:cNvSpPr/>
          <p:nvPr/>
        </p:nvSpPr>
        <p:spPr>
          <a:xfrm>
            <a:off x="6428232" y="1627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非功能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2029968"/>
            <a:ext cx="24231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界面统一、骨架屏、Toast 反馈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响应式断点、reduced-motion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组件分层、layout 块可扩展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iframe sandbox、Markdown 消毒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6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三、功能模块设计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全站壳层 + 多业务子模块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8138160" cy="202692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F4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编号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CC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F4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CC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F4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编号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CC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F4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CC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壳层导航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留言板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首页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友链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项目库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音乐播放器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项目 Demo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碎语/推荐/关于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项目笔记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动效与偏好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博客算法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4F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 互动主题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C9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6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四、页面设计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Router 主要路由（节选）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首页（胶片 Feed）    /projects  项目时间轴    /projects/:slug  详情+Demo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/blog  博客筛选列表    /blog/:slug  文章详情    /messages  留言板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/friends  友链墙    /friends/apply  友链申请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/fragments  碎语（栖息分栏）    /about · /recommend  扩展页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任意无效路径 → 404 互动页（故障动画 · 解锁抽象主题）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40680" y="1481328"/>
            <a:ext cx="3200400" cy="3200400"/>
          </a:xfrm>
          <a:prstGeom prst="rect">
            <a:avLst/>
          </a:prstGeom>
          <a:solidFill>
            <a:srgbClr val="E2F2E8"/>
          </a:solidFill>
          <a:ln w="1270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334F5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40680" y="1481328"/>
            <a:ext cx="64008" cy="320040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8" name="Text 6"/>
          <p:cNvSpPr/>
          <p:nvPr/>
        </p:nvSpPr>
        <p:spPr>
          <a:xfrm>
            <a:off x="5596128" y="16276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答辩截图建议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532120" y="196596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首页 / 项目 Demo / 博客筛选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留言 / 友链申请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主题切换 + 音乐播放器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故障态 + 抽象主题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（界面截图，非代码）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6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五、交互流程设计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典型用户路径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2697480" cy="1417320"/>
          </a:xfrm>
          <a:prstGeom prst="rect">
            <a:avLst/>
          </a:prstGeom>
          <a:solidFill>
            <a:srgbClr val="E2F2E8"/>
          </a:solidFill>
          <a:ln w="1270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334F52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08760"/>
            <a:ext cx="64008" cy="141732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91640"/>
            <a:ext cx="411480" cy="411480"/>
          </a:xfrm>
          <a:prstGeom prst="ellipse">
            <a:avLst/>
          </a:prstGeom>
          <a:solidFill>
            <a:srgbClr val="A0CCA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4238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7099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进入首页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61288" y="203911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浏览介绍与胶片媒体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508760"/>
            <a:ext cx="2697480" cy="1417320"/>
          </a:xfrm>
          <a:prstGeom prst="rect">
            <a:avLst/>
          </a:prstGeom>
          <a:solidFill>
            <a:srgbClr val="E2F2E8"/>
          </a:solidFill>
          <a:ln w="1270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334F52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508760"/>
            <a:ext cx="64008" cy="141732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13" name="Shape 11"/>
          <p:cNvSpPr/>
          <p:nvPr/>
        </p:nvSpPr>
        <p:spPr>
          <a:xfrm>
            <a:off x="3520440" y="1691640"/>
            <a:ext cx="411480" cy="411480"/>
          </a:xfrm>
          <a:prstGeom prst="ellipse">
            <a:avLst/>
          </a:prstGeom>
          <a:solidFill>
            <a:srgbClr val="A0CCAB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4238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41648" y="17099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列表筛选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41648" y="203911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项目/博客 标签·关键词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1508760"/>
            <a:ext cx="2697480" cy="1417320"/>
          </a:xfrm>
          <a:prstGeom prst="rect">
            <a:avLst/>
          </a:prstGeom>
          <a:solidFill>
            <a:srgbClr val="E2F2E8"/>
          </a:solidFill>
          <a:ln w="1270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334F52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508760"/>
            <a:ext cx="64008" cy="141732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1691640"/>
            <a:ext cx="411480" cy="411480"/>
          </a:xfrm>
          <a:prstGeom prst="ellipse">
            <a:avLst/>
          </a:prstGeom>
          <a:solidFill>
            <a:srgbClr val="A0CCA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4238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22008" y="17099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查看详情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22008" y="203911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或 Demo iframe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200400"/>
            <a:ext cx="2697480" cy="1417320"/>
          </a:xfrm>
          <a:prstGeom prst="rect">
            <a:avLst/>
          </a:prstGeom>
          <a:solidFill>
            <a:srgbClr val="E2F2E8"/>
          </a:solidFill>
          <a:ln w="1270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334F52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3200400"/>
            <a:ext cx="64008" cy="141732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383280"/>
            <a:ext cx="411480" cy="411480"/>
          </a:xfrm>
          <a:prstGeom prst="ellipse">
            <a:avLst/>
          </a:prstGeom>
          <a:solidFill>
            <a:srgbClr val="A0CCA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4238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61288" y="3401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互动投稿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61288" y="373075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留言 / 友链申请 + 验证码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83280" y="3200400"/>
            <a:ext cx="2697480" cy="1417320"/>
          </a:xfrm>
          <a:prstGeom prst="rect">
            <a:avLst/>
          </a:prstGeom>
          <a:solidFill>
            <a:srgbClr val="E2F2E8"/>
          </a:solidFill>
          <a:ln w="1270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334F52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83280" y="3200400"/>
            <a:ext cx="64008" cy="141732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31" name="Shape 29"/>
          <p:cNvSpPr/>
          <p:nvPr/>
        </p:nvSpPr>
        <p:spPr>
          <a:xfrm>
            <a:off x="3520440" y="3383280"/>
            <a:ext cx="411480" cy="411480"/>
          </a:xfrm>
          <a:prstGeom prst="ellipse">
            <a:avLst/>
          </a:prstGeom>
          <a:solidFill>
            <a:srgbClr val="A0CCAB"/>
          </a:solidFill>
          <a:ln/>
        </p:spPr>
      </p:sp>
      <p:sp>
        <p:nvSpPr>
          <p:cNvPr id="32" name="Text 30"/>
          <p:cNvSpPr/>
          <p:nvPr/>
        </p:nvSpPr>
        <p:spPr>
          <a:xfrm>
            <a:off x="352044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4238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041648" y="3401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站长审核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041648" y="373075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待审核 Tab 批准/回复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3200400"/>
            <a:ext cx="2697480" cy="1417320"/>
          </a:xfrm>
          <a:prstGeom prst="rect">
            <a:avLst/>
          </a:prstGeom>
          <a:solidFill>
            <a:srgbClr val="E2F2E8"/>
          </a:solidFill>
          <a:ln w="1270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334F52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63640" y="3200400"/>
            <a:ext cx="64008" cy="141732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37" name="Shape 35"/>
          <p:cNvSpPr/>
          <p:nvPr/>
        </p:nvSpPr>
        <p:spPr>
          <a:xfrm>
            <a:off x="6400800" y="3383280"/>
            <a:ext cx="411480" cy="411480"/>
          </a:xfrm>
          <a:prstGeom prst="ellipse">
            <a:avLst/>
          </a:prstGeom>
          <a:solidFill>
            <a:srgbClr val="A0CCAB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4238"/>
                </a:solidFill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22008" y="3401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彩蛋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922008" y="373075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解锁第三套抽象主题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6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七、技术方案设计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前端技术栈与分工说明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417320" cy="310896"/>
          </a:xfrm>
          <a:prstGeom prst="rect">
            <a:avLst/>
          </a:prstGeom>
          <a:solidFill>
            <a:srgbClr val="D4EADC"/>
          </a:solidFill>
          <a:ln w="6350">
            <a:solidFill>
              <a:srgbClr val="A8C9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813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1481328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语义标签 header/nav/article/section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1417320" cy="310896"/>
          </a:xfrm>
          <a:prstGeom prst="rect">
            <a:avLst/>
          </a:prstGeom>
          <a:solidFill>
            <a:srgbClr val="D4EADC"/>
          </a:solidFill>
          <a:ln w="6350">
            <a:solidFill>
              <a:srgbClr val="A8C9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6537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186537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Flex/Grid · 变量主题 · 入场动画 · 404 故障动画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249424"/>
            <a:ext cx="1417320" cy="310896"/>
          </a:xfrm>
          <a:prstGeom prst="rect">
            <a:avLst/>
          </a:prstGeom>
          <a:solidFill>
            <a:srgbClr val="D4EADC"/>
          </a:solidFill>
          <a:ln w="6350">
            <a:solidFill>
              <a:srgbClr val="A8C9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4942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224942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组合式 API · 表单校验 · 异步请求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633472"/>
            <a:ext cx="1417320" cy="310896"/>
          </a:xfrm>
          <a:prstGeom prst="rect">
            <a:avLst/>
          </a:prstGeom>
          <a:solidFill>
            <a:srgbClr val="D4EADC"/>
          </a:solidFill>
          <a:ln w="6350">
            <a:solidFill>
              <a:srgbClr val="A8C9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33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263347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组件化 · 条件/列表渲染 · script setup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017520"/>
            <a:ext cx="1417320" cy="310896"/>
          </a:xfrm>
          <a:prstGeom prst="rect">
            <a:avLst/>
          </a:prstGeom>
          <a:solidFill>
            <a:srgbClr val="D4EADC"/>
          </a:solidFill>
          <a:ln w="6350">
            <a:solidFill>
              <a:srgbClr val="A8C9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175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Router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11680" y="301752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14+ 子路由 · AppShell 布局 meta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401568"/>
            <a:ext cx="1417320" cy="310896"/>
          </a:xfrm>
          <a:prstGeom prst="rect">
            <a:avLst/>
          </a:prstGeom>
          <a:solidFill>
            <a:srgbClr val="D4EADC"/>
          </a:solidFill>
          <a:ln w="6350">
            <a:solidFill>
              <a:srgbClr val="A8C9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4015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3401568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主题/音乐/轨迹等全局 UI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3785616"/>
            <a:ext cx="1417320" cy="310896"/>
          </a:xfrm>
          <a:prstGeom prst="rect">
            <a:avLst/>
          </a:prstGeom>
          <a:solidFill>
            <a:srgbClr val="D4EADC"/>
          </a:solidFill>
          <a:ln w="6350">
            <a:solidFill>
              <a:srgbClr val="A8C9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78561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11680" y="378561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偏好 · session 列表缓存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4169664"/>
            <a:ext cx="1417320" cy="310896"/>
          </a:xfrm>
          <a:prstGeom prst="rect">
            <a:avLst/>
          </a:prstGeom>
          <a:solidFill>
            <a:srgbClr val="D4EADC"/>
          </a:solidFill>
          <a:ln w="6350">
            <a:solidFill>
              <a:srgbClr val="A8C9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16966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其它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011680" y="416966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vue-i18n · marked+DOMPurify · GSAP 光标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4617720"/>
            <a:ext cx="8138160" cy="384048"/>
          </a:xfrm>
          <a:prstGeom prst="rect">
            <a:avLst/>
          </a:prstGeom>
          <a:solidFill>
            <a:srgbClr val="E2F2E8"/>
          </a:solidFill>
          <a:ln w="1270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334F52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4617720"/>
            <a:ext cx="64008" cy="384048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46817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未使用 jQuery / Element Plus；未使用 ECharts（统计可视化为后续改进项）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6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核心亮点 · 项目 Demo 容器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数据驱动 layout + 沙箱 iframe「站中站」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4572000" cy="3246120"/>
          </a:xfrm>
          <a:prstGeom prst="rect">
            <a:avLst/>
          </a:prstGeom>
          <a:solidFill>
            <a:srgbClr val="E2F2E8"/>
          </a:solidFill>
          <a:ln w="1270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334F52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81328"/>
            <a:ext cx="64008" cy="324612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4592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project-blocks/registry.ts 注册 overview/demo/gallery 等块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ProjectDetailView 按 layout 数组顺序渲染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DemoBlock：demoUrl 或 srcdoc + sandbox iframe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demos/*/demo.config.json + build-demo-assets.mjs 构建子工程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build:demos 产出静态资源供详情页引用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257800" y="1481328"/>
            <a:ext cx="3383280" cy="3246120"/>
          </a:xfrm>
          <a:prstGeom prst="rect">
            <a:avLst/>
          </a:prstGeom>
          <a:solidFill>
            <a:srgbClr val="E2F2E8"/>
          </a:solidFill>
          <a:ln w="1270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334F52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257800" y="1481328"/>
            <a:ext cx="64008" cy="324612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0" y="1828800"/>
            <a:ext cx="2926080" cy="2011680"/>
          </a:xfrm>
          <a:prstGeom prst="rect">
            <a:avLst/>
          </a:prstGeom>
          <a:solidFill>
            <a:srgbClr val="F1F0E8"/>
          </a:solidFill>
          <a:ln w="12700">
            <a:solidFill>
              <a:srgbClr val="A8C9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iframe Demo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32120" y="4160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答辩演示：/projects/grunray-wiki</a:t>
            </a:r>
            <a:endParaRPr lang="en-US" sz="10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B257553-047E-6F7E-5E42-556AC9BA0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819656"/>
            <a:ext cx="2982586" cy="24161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6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核心亮点 · 壳层动效与体验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成员甲主责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AppShell：顶栏 FLIP 工具动画、滚动 compact 导航、页脚揭示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page-enter-*.css + usePageEnterAnimation（双 rAF）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FilmFeed 胶片滚动 · FloatingMusicPlayer 拖拽持久化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XiqiSplitLayout 栖息分栏：列表+详情滑入，防关闭塌陷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CursorTrail（GSAP）· 日/夜/抽象三套主题 token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257800" y="1481328"/>
            <a:ext cx="3383280" cy="1508760"/>
          </a:xfrm>
          <a:prstGeom prst="rect">
            <a:avLst/>
          </a:prstGeom>
          <a:solidFill>
            <a:srgbClr val="E2F2E8"/>
          </a:solidFill>
          <a:ln w="1270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334F52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57800" y="1481328"/>
            <a:ext cx="64008" cy="150876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8" name="Text 6"/>
          <p:cNvSpPr/>
          <p:nvPr/>
        </p:nvSpPr>
        <p:spPr>
          <a:xfrm>
            <a:off x="5440680" y="16276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互动页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94960" y="19659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corruptText 故障文案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page-corrupt 全站视觉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解锁/应用抽象主题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重播故障 · 返回首页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57800" y="3154680"/>
            <a:ext cx="3383280" cy="1572768"/>
          </a:xfrm>
          <a:prstGeom prst="rect">
            <a:avLst/>
          </a:prstGeom>
          <a:solidFill>
            <a:srgbClr val="E2F2E8"/>
          </a:solidFill>
          <a:ln w="1270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334F52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257800" y="3154680"/>
            <a:ext cx="64008" cy="1572768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12" name="Text 10"/>
          <p:cNvSpPr/>
          <p:nvPr/>
        </p:nvSpPr>
        <p:spPr>
          <a:xfrm>
            <a:off x="5440680" y="3291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数据处理（前端）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94960" y="361188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增：留言、友链申请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查/筛/排：博客、项目、留言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改/审：站长回复与审核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6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业务模块 · 留言板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成员乙  |  /messages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3977640" cy="3246120"/>
          </a:xfrm>
          <a:prstGeom prst="rect">
            <a:avLst/>
          </a:prstGeom>
          <a:solidFill>
            <a:srgbClr val="E2F2E8"/>
          </a:solidFill>
          <a:ln w="1270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334F52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81328"/>
            <a:ext cx="64008" cy="324612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45920"/>
            <a:ext cx="3611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发表：正文校验、500 字限制、算术验证码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列表：公开 feed + 最新/最早排序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站长：GitHub/Google OAuth 登录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待审核 Tab：批准 / 拒绝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站长回复、Toast 与 loading 反馈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481328"/>
            <a:ext cx="3931920" cy="3246120"/>
          </a:xfrm>
          <a:prstGeom prst="rect">
            <a:avLst/>
          </a:prstGeom>
          <a:solidFill>
            <a:srgbClr val="E2F2E8"/>
          </a:solidFill>
          <a:ln w="1270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334F52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481328"/>
            <a:ext cx="64008" cy="324612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截图占位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92040" y="2926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插入：发表区 + 待审核 Tab 界面截图</a:t>
            </a:r>
            <a:endParaRPr lang="en-US" sz="11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439DDBE-E82E-13AA-A40C-0363444A6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966" y="1645920"/>
            <a:ext cx="3514315" cy="28757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6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业务模块 · 友链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成员丙  |  /friends · /friends/apply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3977640" cy="3246120"/>
          </a:xfrm>
          <a:prstGeom prst="rect">
            <a:avLst/>
          </a:prstGeom>
          <a:solidFill>
            <a:srgbClr val="E2F2E8"/>
          </a:solidFill>
          <a:ln w="1270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334F52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81328"/>
            <a:ext cx="64008" cy="324612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45920"/>
            <a:ext cx="3611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友链列表：普通链与特殊样式头像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申请页：站名/URL/描述/邮箱/头像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与邮箱格式校验、favicon 预览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验证码提交、成功/错误反馈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配合实验报告统稿与答辩视频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481328"/>
            <a:ext cx="3931920" cy="3246120"/>
          </a:xfrm>
          <a:prstGeom prst="rect">
            <a:avLst/>
          </a:prstGeom>
          <a:solidFill>
            <a:srgbClr val="E2F2E8"/>
          </a:solidFill>
          <a:ln w="1270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334F52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481328"/>
            <a:ext cx="64008" cy="324612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截图占位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92040" y="2926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插入：友链墙 + 申请表单预览截图</a:t>
            </a:r>
            <a:endParaRPr lang="en-US" sz="11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C5B9CCA-7581-A1D6-BABB-082F89911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208" y="1573648"/>
            <a:ext cx="3314700" cy="125096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30D13D8-5B7A-00E2-62AD-F95EE0E122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2960939"/>
            <a:ext cx="3342132" cy="13549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6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小组分工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详见 division_of_labor.md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8138160" cy="868680"/>
          </a:xfrm>
          <a:prstGeom prst="rect">
            <a:avLst/>
          </a:prstGeom>
          <a:solidFill>
            <a:srgbClr val="E2F2E8"/>
          </a:solidFill>
          <a:ln w="1270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334F52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08760"/>
            <a:ext cx="64008" cy="86868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1848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2F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付泊源</a:t>
            </a:r>
            <a:r>
              <a:rPr lang="en-US" sz="1500" b="1" dirty="0">
                <a:solidFill>
                  <a:srgbClr val="2F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~42%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48840" y="1618488"/>
            <a:ext cx="6263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壳层·动效·Demo 容器·首页/项目/博客框架·404·栖息分栏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8138160" cy="868680"/>
          </a:xfrm>
          <a:prstGeom prst="rect">
            <a:avLst/>
          </a:prstGeom>
          <a:solidFill>
            <a:srgbClr val="E2F2E8"/>
          </a:solidFill>
          <a:ln w="1270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334F52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560320"/>
            <a:ext cx="64008" cy="86868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7004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2F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高新博</a:t>
            </a:r>
            <a:r>
              <a:rPr lang="en-US" sz="1500" b="1" dirty="0">
                <a:solidFill>
                  <a:srgbClr val="2F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~29%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48840" y="2670048"/>
            <a:ext cx="6263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留言板全流程与 API 联调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611880"/>
            <a:ext cx="8138160" cy="868680"/>
          </a:xfrm>
          <a:prstGeom prst="rect">
            <a:avLst/>
          </a:prstGeom>
          <a:solidFill>
            <a:srgbClr val="E2F2E8"/>
          </a:solidFill>
          <a:ln w="1270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334F52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611880"/>
            <a:ext cx="64008" cy="86868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72160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2F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韩文星</a:t>
            </a:r>
            <a:r>
              <a:rPr lang="en-US" sz="1500" b="1" dirty="0">
                <a:solidFill>
                  <a:srgbClr val="2F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~29%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148840" y="3721608"/>
            <a:ext cx="6263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友链模块·内容联调·报告统稿·答辩视频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6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4F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九、总结与不足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完成情况 · 改进方向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3977640" cy="3246120"/>
          </a:xfrm>
          <a:prstGeom prst="rect">
            <a:avLst/>
          </a:prstGeom>
          <a:solidFill>
            <a:srgbClr val="E2F2E8"/>
          </a:solidFill>
          <a:ln w="1270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334F52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81328"/>
            <a:ext cx="64008" cy="324612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276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三人组规模与功能/页面数量达标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Vue3 + Router + Pinia 技术栈完整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表单·筛选·审核等数据处理闭环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自定义 UI，浅色主题统一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0" y="1481328"/>
            <a:ext cx="3931920" cy="3246120"/>
          </a:xfrm>
          <a:prstGeom prst="rect">
            <a:avLst/>
          </a:prstGeom>
          <a:solidFill>
            <a:srgbClr val="E2F2E8"/>
          </a:solidFill>
          <a:ln w="12700">
            <a:solidFill>
              <a:srgbClr val="A8C9B4"/>
            </a:solidFill>
            <a:prstDash val="solid"/>
          </a:ln>
          <a:effectLst>
            <a:outerShdw blurRad="50800" dist="25400" dir="8100000" algn="bl" rotWithShape="0">
              <a:srgbClr val="334F52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481328"/>
            <a:ext cx="64008" cy="3246120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6276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不足与后续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96596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统计图表（ECharts）可加强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依赖本地 API，需附运行说明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访客不可编辑自己的留言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持续作为个人 Wiki 迭代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34F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0CCA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91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谢谢聆听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B8D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8D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GrunRay Wiki  |  Web 前端大作业  |  三人小组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785</Words>
  <Application>Microsoft Office PowerPoint</Application>
  <PresentationFormat>全屏显示(16:9)</PresentationFormat>
  <Paragraphs>208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GrunRay Wiki — Web 前端大作业答辩</dc:title>
  <dc:subject>Web 前端课程大作业</dc:subject>
  <dc:creator>GrunRay Wiki 小组</dc:creator>
  <cp:lastModifiedBy>Ray Grun</cp:lastModifiedBy>
  <cp:revision>6</cp:revision>
  <dcterms:created xsi:type="dcterms:W3CDTF">2026-05-27T08:24:20Z</dcterms:created>
  <dcterms:modified xsi:type="dcterms:W3CDTF">2026-05-27T08:58:17Z</dcterms:modified>
</cp:coreProperties>
</file>